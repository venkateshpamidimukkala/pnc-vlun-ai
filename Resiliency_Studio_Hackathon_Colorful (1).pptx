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87" dt="2026-09-18T13:02:57.757"/>
    <p1510:client id="{3D1A1E8F-5E3C-F957-9D39-959CA4F0E6A0}" v="25" dt="2026-09-18T12:52:45.503"/>
    <p1510:client id="{419E527F-EB3C-6343-688F-B4470B351C67}" v="8" dt="2026-09-19T04:36:36.9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C6E5B-B54E-4EA9-873A-194655FAC301}" type="datetimeFigureOut"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8BA6F-DDA2-4133-AB16-B009C9AD12D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18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C7B7"/>
          </a:solidFill>
          <a:ln w="12700">
            <a:solidFill>
              <a:srgbClr val="21C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>
                <a:solidFill>
                  <a:srgbClr val="5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RESILIENCY STUDIO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20">
                <a:solidFill>
                  <a:srgbClr val="5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74320"/>
            <a:ext cx="914400" cy="914400"/>
          </a:xfrm>
          <a:prstGeom prst="ellipse">
            <a:avLst/>
          </a:prstGeom>
          <a:solidFill>
            <a:srgbClr val="D9D9D9">
              <a:alpha val="40000"/>
            </a:srgbClr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280160"/>
            <a:ext cx="914400" cy="914400"/>
          </a:xfrm>
          <a:prstGeom prst="ellipse">
            <a:avLst/>
          </a:prstGeom>
          <a:solidFill>
            <a:srgbClr val="D9D9D9">
              <a:alpha val="40000"/>
            </a:srgbClr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2743200"/>
            <a:ext cx="1097280" cy="1097280"/>
          </a:xfrm>
          <a:prstGeom prst="ellipse">
            <a:avLst/>
          </a:prstGeom>
          <a:solidFill>
            <a:srgbClr val="D9D9D9">
              <a:alpha val="40000"/>
            </a:srgbClr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4114800"/>
            <a:ext cx="1005840" cy="1005840"/>
          </a:xfrm>
          <a:prstGeom prst="ellipse">
            <a:avLst/>
          </a:prstGeom>
          <a:solidFill>
            <a:srgbClr val="D9D9D9">
              <a:alpha val="40000"/>
            </a:srgbClr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0" y="2011680"/>
            <a:ext cx="914400" cy="914400"/>
          </a:xfrm>
          <a:prstGeom prst="ellipse">
            <a:avLst/>
          </a:prstGeom>
          <a:solidFill>
            <a:srgbClr val="D9D9D9">
              <a:alpha val="40000"/>
            </a:srgbClr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5212080"/>
            <a:ext cx="1005840" cy="1005840"/>
          </a:xfrm>
          <a:prstGeom prst="ellipse">
            <a:avLst/>
          </a:prstGeom>
          <a:solidFill>
            <a:srgbClr val="D9D9D9">
              <a:alpha val="40000"/>
            </a:srgbClr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43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F1F4D"/>
                </a:solidFill>
              </a:rPr>
              <a:t>PNC Resiliency Studio</a:t>
            </a:r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7772400" y="640080"/>
            <a:ext cx="39319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33333"/>
                </a:solidFill>
              </a:rPr>
              <a:t>Hackathon Demo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7955280" y="1188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33333"/>
                </a:solidFill>
              </a:rPr>
              <a:t>Deterministic AI Security • Governed Remediation</a:t>
            </a:r>
            <a:endParaRPr lang="en-US" sz="12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9F7DDA-3489-72B2-04C1-4FC843BC8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57" y="3865245"/>
            <a:ext cx="541972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05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11A69A"/>
                </a:solidFill>
              </a:rPr>
              <a:t>PROBLEM • SOLUTION • STACK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092F45"/>
                </a:solidFill>
              </a:rPr>
              <a:t>What problem are we solving?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8412480" y="5760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>
                <a:solidFill>
                  <a:srgbClr val="5E7486"/>
                </a:solidFill>
              </a:rPr>
              <a:t>A unified workspace for repeatable, evidence-driven risk discovery.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562356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FE8EF"/>
            </a:solidFill>
            <a:prstDash val="solid"/>
          </a:ln>
          <a:effectLst>
            <a:outerShdw blurRad="25400" dist="50800" dir="2700000" algn="bl" rotWithShape="0">
              <a:srgbClr val="9FB3C1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70432"/>
            <a:ext cx="82296" cy="2084832"/>
          </a:xfrm>
          <a:prstGeom prst="roundRect">
            <a:avLst>
              <a:gd name="adj" fmla="val 44444"/>
            </a:avLst>
          </a:prstGeom>
          <a:solidFill>
            <a:srgbClr val="DE5A67"/>
          </a:solidFill>
          <a:ln w="12700">
            <a:solidFill>
              <a:srgbClr val="DE5A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99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DE5A67"/>
                </a:solidFill>
              </a:rPr>
              <a:t>Problem Statement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749808" y="1792224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7364B"/>
                </a:solidFill>
              </a:rPr>
              <a:t>Code, security, and remediation evidence is often fragmented. PNC Resiliency Studio connects deterministic scanning, AI guidance, human approval, and audit-ready persistence in one local demo workflow.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5257800" y="1344168"/>
            <a:ext cx="502920" cy="502920"/>
          </a:xfrm>
          <a:prstGeom prst="ellipse">
            <a:avLst/>
          </a:prstGeom>
          <a:solidFill>
            <a:srgbClr val="FFF3E7"/>
          </a:solidFill>
          <a:ln w="12700">
            <a:solidFill>
              <a:srgbClr val="FFF3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14356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DE5A67"/>
                </a:solidFill>
              </a:rPr>
              <a:t>!</a:t>
            </a:r>
            <a:endParaRPr lang="en-US" sz="1800"/>
          </a:p>
        </p:txBody>
      </p:sp>
      <p:sp>
        <p:nvSpPr>
          <p:cNvPr id="11" name="Shape 9"/>
          <p:cNvSpPr/>
          <p:nvPr/>
        </p:nvSpPr>
        <p:spPr>
          <a:xfrm>
            <a:off x="6327648" y="1170432"/>
            <a:ext cx="5358384" cy="4334256"/>
          </a:xfrm>
          <a:prstGeom prst="roundRect">
            <a:avLst>
              <a:gd name="adj" fmla="val 1688"/>
            </a:avLst>
          </a:prstGeom>
          <a:solidFill>
            <a:srgbClr val="092F45"/>
          </a:solidFill>
          <a:ln w="12700">
            <a:solidFill>
              <a:srgbClr val="DFE8EF"/>
            </a:solidFill>
            <a:prstDash val="solid"/>
          </a:ln>
          <a:effectLst>
            <a:outerShdw blurRad="25400" dist="50800" dir="2700000" algn="bl" rotWithShape="0">
              <a:srgbClr val="9FB3C1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27648" y="1170432"/>
            <a:ext cx="82296" cy="4334256"/>
          </a:xfrm>
          <a:prstGeom prst="roundRect">
            <a:avLst>
              <a:gd name="adj" fmla="val 44444"/>
            </a:avLst>
          </a:prstGeom>
          <a:solidFill>
            <a:srgbClr val="21C7B7"/>
          </a:solidFill>
          <a:ln w="12700">
            <a:solidFill>
              <a:srgbClr val="21C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1399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00B050"/>
                </a:solidFill>
              </a:rPr>
              <a:t>Demo Capabilities</a:t>
            </a:r>
            <a:endParaRPr lang="en-US" sz="1400">
              <a:solidFill>
                <a:srgbClr val="00B05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01968" y="1810512"/>
            <a:ext cx="4645152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600">
                <a:solidFill>
                  <a:srgbClr val="FFFFFF"/>
                </a:solidFill>
              </a:rPr>
              <a:t>Angular 22 UI</a:t>
            </a:r>
            <a:endParaRPr lang="en-US" sz="1600"/>
          </a:p>
          <a:p>
            <a:pPr marL="165100" indent="-165100">
              <a:lnSpc>
                <a:spcPct val="150000"/>
              </a:lnSpc>
              <a:buSzPct val="100000"/>
              <a:buFontTx/>
              <a:buChar char="•"/>
            </a:pPr>
            <a:r>
              <a:rPr lang="en-US" sz="1600">
                <a:solidFill>
                  <a:srgbClr val="FFFFFF"/>
                </a:solidFill>
              </a:rPr>
              <a:t>FastAPI API + authenticated roles</a:t>
            </a:r>
            <a:endParaRPr lang="en-US" sz="1600"/>
          </a:p>
          <a:p>
            <a:pPr marL="165100" indent="-165100">
              <a:lnSpc>
                <a:spcPct val="150000"/>
              </a:lnSpc>
              <a:buSzPct val="100000"/>
              <a:buFontTx/>
              <a:buChar char="•"/>
            </a:pPr>
            <a:r>
              <a:rPr lang="en-US" sz="1600">
                <a:solidFill>
                  <a:srgbClr val="FFFFFF"/>
                </a:solidFill>
              </a:rPr>
              <a:t>Deterministic SAST rules</a:t>
            </a:r>
            <a:endParaRPr lang="en-US" sz="1600"/>
          </a:p>
          <a:p>
            <a:pPr marL="165100" indent="-165100">
              <a:lnSpc>
                <a:spcPct val="150000"/>
              </a:lnSpc>
              <a:buSzPct val="100000"/>
              <a:buFontTx/>
              <a:buChar char="•"/>
            </a:pPr>
            <a:r>
              <a:rPr lang="en-US" sz="1600">
                <a:solidFill>
                  <a:srgbClr val="FFFFFF"/>
                </a:solidFill>
              </a:rPr>
              <a:t>Always-mock demo + timeout fallback</a:t>
            </a:r>
            <a:endParaRPr lang="en-US" sz="1600"/>
          </a:p>
          <a:p>
            <a:pPr marL="165100" indent="-165100">
              <a:lnSpc>
                <a:spcPct val="150000"/>
              </a:lnSpc>
              <a:buSzPct val="100000"/>
              <a:buFontTx/>
              <a:buChar char="•"/>
            </a:pPr>
            <a:r>
              <a:rPr lang="en-US" sz="1600">
                <a:solidFill>
                  <a:srgbClr val="FFFFFF"/>
                </a:solidFill>
              </a:rPr>
              <a:t>Background jobs + progress polling</a:t>
            </a:r>
            <a:endParaRPr lang="en-US" sz="1600"/>
          </a:p>
          <a:p>
            <a:pPr marL="165100" indent="-165100">
              <a:lnSpc>
                <a:spcPct val="150000"/>
              </a:lnSpc>
              <a:buSzPct val="100000"/>
              <a:buFontTx/>
              <a:buChar char="•"/>
            </a:pPr>
            <a:r>
              <a:rPr lang="en-US" sz="1600">
                <a:solidFill>
                  <a:srgbClr val="FFFFFF"/>
                </a:solidFill>
              </a:rPr>
              <a:t>Findings, metrics, persistence</a:t>
            </a:r>
            <a:endParaRPr lang="en-US" sz="1600"/>
          </a:p>
          <a:p>
            <a:pPr marL="165100" indent="-165100">
              <a:lnSpc>
                <a:spcPct val="150000"/>
              </a:lnSpc>
              <a:buSzPct val="100000"/>
              <a:buFontTx/>
              <a:buChar char="•"/>
            </a:pPr>
            <a:r>
              <a:rPr lang="en-US" sz="1600">
                <a:solidFill>
                  <a:srgbClr val="FFFFFF"/>
                </a:solidFill>
              </a:rPr>
              <a:t>Remediation + approval workflow</a:t>
            </a:r>
            <a:endParaRPr lang="en-US" sz="1600"/>
          </a:p>
          <a:p>
            <a:pPr marL="165100" indent="-165100">
              <a:lnSpc>
                <a:spcPct val="150000"/>
              </a:lnSpc>
              <a:buSzPct val="100000"/>
              <a:buFontTx/>
              <a:buChar char="•"/>
            </a:pPr>
            <a:r>
              <a:rPr lang="en-US" sz="1600">
                <a:solidFill>
                  <a:srgbClr val="FFFFFF"/>
                </a:solidFill>
              </a:rPr>
              <a:t>AI Engine evidence and Copilot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502920" y="3493008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EAF1FD"/>
          </a:solidFill>
          <a:ln w="12700">
            <a:solidFill>
              <a:srgbClr val="DFE8EF"/>
            </a:solidFill>
            <a:prstDash val="solid"/>
          </a:ln>
          <a:effectLst>
            <a:outerShdw blurRad="25400" dist="50800" dir="2700000" algn="bl" rotWithShape="0">
              <a:srgbClr val="9FB3C1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493008"/>
            <a:ext cx="82296" cy="2011680"/>
          </a:xfrm>
          <a:prstGeom prst="roundRect">
            <a:avLst>
              <a:gd name="adj" fmla="val 44444"/>
            </a:avLst>
          </a:prstGeom>
          <a:solidFill>
            <a:srgbClr val="356FD4"/>
          </a:solidFill>
          <a:ln w="12700">
            <a:solidFill>
              <a:srgbClr val="356F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730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356FD4"/>
                </a:solidFill>
              </a:rPr>
              <a:t>Technology Used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749808" y="4133088"/>
            <a:ext cx="2871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200">
                <a:solidFill>
                  <a:srgbClr val="17364B"/>
                </a:solidFill>
              </a:rPr>
              <a:t>Angular 22</a:t>
            </a:r>
            <a:r>
              <a:rPr lang="en-US" sz="1100">
                <a:solidFill>
                  <a:srgbClr val="17364B"/>
                </a:solidFill>
              </a:rPr>
              <a:t>Python 3.13 / FastAPI</a:t>
            </a:r>
            <a:endParaRPr lang="en-US" sz="1200">
              <a:solidFill>
                <a:srgbClr val="000000"/>
              </a:solidFill>
            </a:endParaRPr>
          </a:p>
          <a:p>
            <a:r>
              <a:rPr lang="en-US" sz="1200">
                <a:solidFill>
                  <a:srgbClr val="17364B"/>
                </a:solidFill>
              </a:rPr>
              <a:t>In-process jobs / timing timeline</a:t>
            </a:r>
            <a:endParaRPr lang="en-US" sz="1200">
              <a:solidFill>
                <a:srgbClr val="000000"/>
              </a:solidFill>
            </a:endParaRPr>
          </a:p>
          <a:p>
            <a:r>
              <a:rPr lang="en-US" sz="1200">
                <a:solidFill>
                  <a:srgbClr val="17364B"/>
                </a:solidFill>
              </a:rPr>
              <a:t>PostgreSQL + SQLAlchemy</a:t>
            </a:r>
            <a:endParaRPr lang="en-US" sz="1200">
              <a:solidFill>
                <a:srgbClr val="000000"/>
              </a:solidFill>
            </a:endParaRPr>
          </a:p>
          <a:p>
            <a:r>
              <a:rPr lang="en-US" sz="1200">
                <a:solidFill>
                  <a:srgbClr val="17364B"/>
                </a:solidFill>
              </a:rPr>
              <a:t>Deterministic local AI + optional Ollama</a:t>
            </a:r>
            <a:endParaRPr lang="en-US" sz="1200">
              <a:solidFill>
                <a:srgbClr val="000000"/>
              </a:solidFill>
            </a:endParaRPr>
          </a:p>
          <a:p>
            <a:r>
              <a:rPr lang="en-US" sz="1200">
                <a:solidFill>
                  <a:srgbClr val="17364B"/>
                </a:solidFill>
              </a:rPr>
              <a:t>Git / Jira integration ports</a:t>
            </a:r>
            <a:endParaRPr lang="en-US" sz="1200">
              <a:solidFill>
                <a:srgbClr val="000000"/>
              </a:solidFill>
            </a:endParaRPr>
          </a:p>
          <a:p>
            <a:r>
              <a:rPr lang="en-US" sz="1200">
                <a:solidFill>
                  <a:srgbClr val="17364B"/>
                </a:solidFill>
              </a:rPr>
              <a:t>Demo Safety</a:t>
            </a:r>
          </a:p>
        </p:txBody>
      </p:sp>
      <p:sp>
        <p:nvSpPr>
          <p:cNvPr id="19" name="Shape 17"/>
          <p:cNvSpPr/>
          <p:nvPr/>
        </p:nvSpPr>
        <p:spPr>
          <a:xfrm>
            <a:off x="4133088" y="3493008"/>
            <a:ext cx="1993392" cy="2011680"/>
          </a:xfrm>
          <a:prstGeom prst="roundRect">
            <a:avLst>
              <a:gd name="adj" fmla="val 3670"/>
            </a:avLst>
          </a:prstGeom>
          <a:solidFill>
            <a:srgbClr val="EAF7F5"/>
          </a:solidFill>
          <a:ln w="12700">
            <a:solidFill>
              <a:srgbClr val="DFE8EF"/>
            </a:solidFill>
            <a:prstDash val="solid"/>
          </a:ln>
          <a:effectLst>
            <a:outerShdw blurRad="25400" dist="50800" dir="2700000" algn="bl" rotWithShape="0">
              <a:srgbClr val="9FB3C1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33088" y="3493008"/>
            <a:ext cx="82296" cy="2011680"/>
          </a:xfrm>
          <a:prstGeom prst="roundRect">
            <a:avLst>
              <a:gd name="adj" fmla="val 44444"/>
            </a:avLst>
          </a:prstGeom>
          <a:solidFill>
            <a:srgbClr val="2CB67D"/>
          </a:solidFill>
          <a:ln w="12700">
            <a:solidFill>
              <a:srgbClr val="2CB6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9976" y="37307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2CB67D"/>
                </a:solidFill>
              </a:rPr>
              <a:t>3 deterministic mock findings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4352544" y="4105656"/>
            <a:ext cx="1463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20">
                <a:solidFill>
                  <a:srgbClr val="17364B"/>
                </a:solidFill>
              </a:rPr>
              <a:t>Tenant-scoped access + audit events</a:t>
            </a:r>
            <a:endParaRPr lang="en-US" sz="1020"/>
          </a:p>
          <a:p>
            <a:pPr marL="165100" indent="-165100">
              <a:buSzPct val="100000"/>
              <a:buChar char="•"/>
            </a:pPr>
            <a:r>
              <a:rPr lang="en-US" sz="1020">
                <a:solidFill>
                  <a:srgbClr val="17364B"/>
                </a:solidFill>
              </a:rPr>
              <a:t>Credentials-free local walkthrough</a:t>
            </a:r>
            <a:endParaRPr lang="en-US" sz="1020"/>
          </a:p>
          <a:p>
            <a:pPr marL="165100" indent="-165100">
              <a:buSzPct val="100000"/>
              <a:buChar char="•"/>
            </a:pPr>
            <a:r>
              <a:rPr lang="en-US" sz="1020">
                <a:solidFill>
                  <a:srgbClr val="17364B"/>
                </a:solidFill>
              </a:rPr>
              <a:t>SCAN → CLASSIFY → REVIEW → REMEDIATE → REPORT</a:t>
            </a:r>
            <a:endParaRPr lang="en-US" sz="1020"/>
          </a:p>
        </p:txBody>
      </p:sp>
      <p:sp>
        <p:nvSpPr>
          <p:cNvPr id="23" name="Shape 21"/>
          <p:cNvSpPr/>
          <p:nvPr/>
        </p:nvSpPr>
        <p:spPr>
          <a:xfrm>
            <a:off x="502920" y="5742432"/>
            <a:ext cx="11183112" cy="493776"/>
          </a:xfrm>
          <a:prstGeom prst="roundRect">
            <a:avLst>
              <a:gd name="adj" fmla="val 14815"/>
            </a:avLst>
          </a:prstGeom>
          <a:solidFill>
            <a:srgbClr val="123B54"/>
          </a:solidFill>
          <a:ln w="12700">
            <a:solidFill>
              <a:srgbClr val="123B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897880"/>
            <a:ext cx="10634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80">
                <a:solidFill>
                  <a:srgbClr val="FFFFFF"/>
                </a:solidFill>
              </a:rPr>
              <a:t>Built for SDLC security demos</a:t>
            </a:r>
            <a:endParaRPr lang="en-US" sz="11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11A69A"/>
                </a:solidFill>
              </a:rPr>
              <a:t>OPERATING MODEL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092F45"/>
                </a:solidFill>
              </a:rPr>
              <a:t>How does it work?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8412480" y="5760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>
                <a:solidFill>
                  <a:srgbClr val="5E7486"/>
                </a:solidFill>
              </a:rPr>
              <a:t>Authenticated scan to governed remediation.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2523744" cy="1261872"/>
          </a:xfrm>
          <a:prstGeom prst="roundRect">
            <a:avLst>
              <a:gd name="adj" fmla="val 5797"/>
            </a:avLst>
          </a:prstGeom>
          <a:solidFill>
            <a:srgbClr val="EAF1FD"/>
          </a:solidFill>
          <a:ln w="16510">
            <a:solidFill>
              <a:srgbClr val="356F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353312"/>
            <a:ext cx="310896" cy="310896"/>
          </a:xfrm>
          <a:prstGeom prst="ellipse">
            <a:avLst/>
          </a:prstGeom>
          <a:solidFill>
            <a:srgbClr val="356FD4"/>
          </a:solidFill>
          <a:ln w="12700">
            <a:solidFill>
              <a:srgbClr val="356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3560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1</a:t>
            </a:r>
            <a:endParaRPr lang="en-US" sz="800"/>
          </a:p>
        </p:txBody>
      </p:sp>
      <p:sp>
        <p:nvSpPr>
          <p:cNvPr id="8" name="Text 6"/>
          <p:cNvSpPr/>
          <p:nvPr/>
        </p:nvSpPr>
        <p:spPr>
          <a:xfrm>
            <a:off x="1069848" y="1307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>
                <a:solidFill>
                  <a:srgbClr val="356FD4"/>
                </a:solidFill>
              </a:rPr>
              <a:t>User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667512" y="1737360"/>
            <a:ext cx="2194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17364B"/>
                </a:solidFill>
              </a:rPr>
              <a:t>Analyst or reviewer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072384" y="1581912"/>
            <a:ext cx="219456" cy="384048"/>
          </a:xfrm>
          <a:prstGeom prst="chevron">
            <a:avLst/>
          </a:prstGeom>
          <a:solidFill>
            <a:srgbClr val="A9BBC8"/>
          </a:solidFill>
          <a:ln w="12700">
            <a:solidFill>
              <a:srgbClr val="A9BB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9272" y="1170432"/>
            <a:ext cx="2523744" cy="1261872"/>
          </a:xfrm>
          <a:prstGeom prst="roundRect">
            <a:avLst>
              <a:gd name="adj" fmla="val 5797"/>
            </a:avLst>
          </a:prstGeom>
          <a:solidFill>
            <a:srgbClr val="F1EDFB"/>
          </a:solidFill>
          <a:ln w="16510">
            <a:solidFill>
              <a:srgbClr val="7357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83864" y="1353312"/>
            <a:ext cx="310896" cy="310896"/>
          </a:xfrm>
          <a:prstGeom prst="ellipse">
            <a:avLst/>
          </a:prstGeom>
          <a:solidFill>
            <a:srgbClr val="7357C8"/>
          </a:solidFill>
          <a:ln w="12700">
            <a:solidFill>
              <a:srgbClr val="7357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3864" y="143560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2</a:t>
            </a:r>
            <a:endParaRPr lang="en-US" sz="800"/>
          </a:p>
        </p:txBody>
      </p:sp>
      <p:sp>
        <p:nvSpPr>
          <p:cNvPr id="14" name="Text 12"/>
          <p:cNvSpPr/>
          <p:nvPr/>
        </p:nvSpPr>
        <p:spPr>
          <a:xfrm>
            <a:off x="3886200" y="1307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>
                <a:solidFill>
                  <a:srgbClr val="7357C8"/>
                </a:solidFill>
              </a:rPr>
              <a:t>Scan / AI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3483864" y="1737360"/>
            <a:ext cx="2194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17364B"/>
                </a:solidFill>
              </a:rPr>
              <a:t>Mock or live scan + evidence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5888736" y="1581912"/>
            <a:ext cx="219456" cy="384048"/>
          </a:xfrm>
          <a:prstGeom prst="chevron">
            <a:avLst/>
          </a:prstGeom>
          <a:solidFill>
            <a:srgbClr val="A9BBC8"/>
          </a:solidFill>
          <a:ln w="12700">
            <a:solidFill>
              <a:srgbClr val="A9BB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35624" y="1170432"/>
            <a:ext cx="2523744" cy="1261872"/>
          </a:xfrm>
          <a:prstGeom prst="roundRect">
            <a:avLst>
              <a:gd name="adj" fmla="val 5797"/>
            </a:avLst>
          </a:prstGeom>
          <a:solidFill>
            <a:srgbClr val="FFF3E7"/>
          </a:solidFill>
          <a:ln w="16510">
            <a:solidFill>
              <a:srgbClr val="F39A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0216" y="1353312"/>
            <a:ext cx="310896" cy="310896"/>
          </a:xfrm>
          <a:prstGeom prst="ellipse">
            <a:avLst/>
          </a:prstGeom>
          <a:solidFill>
            <a:srgbClr val="F39A3C"/>
          </a:solidFill>
          <a:ln w="12700">
            <a:solidFill>
              <a:srgbClr val="F39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143560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3</a:t>
            </a:r>
            <a:endParaRPr lang="en-US" sz="800"/>
          </a:p>
        </p:txBody>
      </p:sp>
      <p:sp>
        <p:nvSpPr>
          <p:cNvPr id="20" name="Text 18"/>
          <p:cNvSpPr/>
          <p:nvPr/>
        </p:nvSpPr>
        <p:spPr>
          <a:xfrm>
            <a:off x="6702552" y="1307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>
                <a:solidFill>
                  <a:srgbClr val="F39A3C"/>
                </a:solidFill>
              </a:rPr>
              <a:t>Background Job</a:t>
            </a:r>
            <a:endParaRPr lang="en-US" sz="1250"/>
          </a:p>
        </p:txBody>
      </p:sp>
      <p:sp>
        <p:nvSpPr>
          <p:cNvPr id="21" name="Text 19"/>
          <p:cNvSpPr/>
          <p:nvPr/>
        </p:nvSpPr>
        <p:spPr>
          <a:xfrm>
            <a:off x="6300216" y="1737360"/>
            <a:ext cx="2194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17364B"/>
                </a:solidFill>
              </a:rPr>
              <a:t>Progress, findings, timing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8705088" y="1581912"/>
            <a:ext cx="219456" cy="384048"/>
          </a:xfrm>
          <a:prstGeom prst="chevron">
            <a:avLst/>
          </a:prstGeom>
          <a:solidFill>
            <a:srgbClr val="A9BBC8"/>
          </a:solidFill>
          <a:ln w="12700">
            <a:solidFill>
              <a:srgbClr val="A9BB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51976" y="1170432"/>
            <a:ext cx="2523744" cy="1261872"/>
          </a:xfrm>
          <a:prstGeom prst="roundRect">
            <a:avLst>
              <a:gd name="adj" fmla="val 5797"/>
            </a:avLst>
          </a:prstGeom>
          <a:solidFill>
            <a:srgbClr val="EAF7F5"/>
          </a:solidFill>
          <a:ln w="16510">
            <a:solidFill>
              <a:srgbClr val="11A6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16568" y="1353312"/>
            <a:ext cx="310896" cy="310896"/>
          </a:xfrm>
          <a:prstGeom prst="ellipse">
            <a:avLst/>
          </a:prstGeom>
          <a:solidFill>
            <a:srgbClr val="11A69A"/>
          </a:solidFill>
          <a:ln w="12700">
            <a:solidFill>
              <a:srgbClr val="11A6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16568" y="143560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4</a:t>
            </a:r>
            <a:endParaRPr lang="en-US" sz="800"/>
          </a:p>
        </p:txBody>
      </p:sp>
      <p:sp>
        <p:nvSpPr>
          <p:cNvPr id="26" name="Text 24"/>
          <p:cNvSpPr/>
          <p:nvPr/>
        </p:nvSpPr>
        <p:spPr>
          <a:xfrm>
            <a:off x="9518904" y="1307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>
                <a:solidFill>
                  <a:srgbClr val="11A69A"/>
                </a:solidFill>
              </a:rPr>
              <a:t>Governed Output</a:t>
            </a:r>
            <a:endParaRPr lang="en-US" sz="1250"/>
          </a:p>
        </p:txBody>
      </p:sp>
      <p:sp>
        <p:nvSpPr>
          <p:cNvPr id="27" name="Text 25"/>
          <p:cNvSpPr/>
          <p:nvPr/>
        </p:nvSpPr>
        <p:spPr>
          <a:xfrm>
            <a:off x="9116568" y="1737360"/>
            <a:ext cx="2194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17364B"/>
                </a:solidFill>
              </a:rPr>
              <a:t>Persistence, approvals, audit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502920" y="2715768"/>
            <a:ext cx="3703320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FE8EF"/>
            </a:solidFill>
            <a:prstDash val="solid"/>
          </a:ln>
          <a:effectLst>
            <a:outerShdw blurRad="25400" dist="50800" dir="2700000" algn="bl" rotWithShape="0">
              <a:srgbClr val="9FB3C1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2715768"/>
            <a:ext cx="82296" cy="2999232"/>
          </a:xfrm>
          <a:prstGeom prst="roundRect">
            <a:avLst>
              <a:gd name="adj" fmla="val 44444"/>
            </a:avLst>
          </a:prstGeom>
          <a:solidFill>
            <a:srgbClr val="7357C8"/>
          </a:solidFill>
          <a:ln w="12700">
            <a:solidFill>
              <a:srgbClr val="7357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29626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7357C8"/>
                </a:solidFill>
              </a:rPr>
              <a:t>What is different about our approach?</a:t>
            </a:r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749808" y="3456432"/>
            <a:ext cx="3090672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80">
                <a:solidFill>
                  <a:srgbClr val="17364B"/>
                </a:solidFill>
              </a:rPr>
              <a:t>Demo path is deterministic</a:t>
            </a:r>
            <a:endParaRPr lang="en-US" sz="1180"/>
          </a:p>
          <a:p>
            <a:pPr marL="165100" indent="-165100">
              <a:buSzPct val="100000"/>
              <a:buChar char="•"/>
            </a:pPr>
            <a:r>
              <a:rPr lang="en-US" sz="1180">
                <a:solidFill>
                  <a:srgbClr val="17364B"/>
                </a:solidFill>
              </a:rPr>
              <a:t>Same input, same findings</a:t>
            </a:r>
            <a:endParaRPr lang="en-US" sz="1180"/>
          </a:p>
          <a:p>
            <a:pPr marL="165100" indent="-165100">
              <a:buSzPct val="100000"/>
              <a:buChar char="•"/>
            </a:pPr>
            <a:r>
              <a:rPr lang="en-US" sz="1180">
                <a:solidFill>
                  <a:srgbClr val="17364B"/>
                </a:solidFill>
              </a:rPr>
              <a:t>Normal jobs and polling</a:t>
            </a:r>
            <a:endParaRPr lang="en-US" sz="1180"/>
          </a:p>
          <a:p>
            <a:pPr marL="165100" indent="-165100">
              <a:buSzPct val="100000"/>
              <a:buChar char="•"/>
            </a:pPr>
            <a:r>
              <a:rPr lang="en-US" sz="1180">
                <a:solidFill>
                  <a:srgbClr val="17364B"/>
                </a:solidFill>
              </a:rPr>
              <a:t>Tenant-scoped records</a:t>
            </a:r>
            <a:endParaRPr lang="en-US" sz="1180"/>
          </a:p>
          <a:p>
            <a:pPr marL="165100" indent="-165100">
              <a:buSzPct val="100000"/>
              <a:buChar char="•"/>
            </a:pPr>
            <a:r>
              <a:rPr lang="en-US" sz="1180">
                <a:solidFill>
                  <a:srgbClr val="17364B"/>
                </a:solidFill>
              </a:rPr>
              <a:t>Audit-ready metadata</a:t>
            </a:r>
            <a:endParaRPr lang="en-US" sz="1180"/>
          </a:p>
        </p:txBody>
      </p:sp>
      <p:sp>
        <p:nvSpPr>
          <p:cNvPr id="32" name="Shape 30"/>
          <p:cNvSpPr/>
          <p:nvPr/>
        </p:nvSpPr>
        <p:spPr>
          <a:xfrm>
            <a:off x="4407408" y="2715768"/>
            <a:ext cx="7278624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FE8EF"/>
            </a:solidFill>
            <a:prstDash val="solid"/>
          </a:ln>
          <a:effectLst>
            <a:outerShdw blurRad="25400" dist="50800" dir="2700000" algn="bl" rotWithShape="0">
              <a:srgbClr val="9FB3C1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07408" y="2715768"/>
            <a:ext cx="82296" cy="2999232"/>
          </a:xfrm>
          <a:prstGeom prst="roundRect">
            <a:avLst>
              <a:gd name="adj" fmla="val 44444"/>
            </a:avLst>
          </a:prstGeom>
          <a:solidFill>
            <a:srgbClr val="11A69A"/>
          </a:solidFill>
          <a:ln w="12700">
            <a:solidFill>
              <a:srgbClr val="11A6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29626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11A69A"/>
                </a:solidFill>
              </a:rPr>
              <a:t>Solution Flow</a:t>
            </a:r>
            <a:endParaRPr lang="en-US" sz="1400"/>
          </a:p>
        </p:txBody>
      </p:sp>
      <p:sp>
        <p:nvSpPr>
          <p:cNvPr id="35" name="Shape 33"/>
          <p:cNvSpPr/>
          <p:nvPr/>
        </p:nvSpPr>
        <p:spPr>
          <a:xfrm>
            <a:off x="4663440" y="3410712"/>
            <a:ext cx="2057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blurRad="12700" dist="50800" dir="2700000" algn="bl" rotWithShape="0">
              <a:srgbClr val="A4B8C5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73168" y="3502152"/>
            <a:ext cx="338328" cy="338328"/>
          </a:xfrm>
          <a:prstGeom prst="ellipse">
            <a:avLst/>
          </a:prstGeom>
          <a:solidFill>
            <a:srgbClr val="356FD4"/>
          </a:solidFill>
          <a:ln w="12700">
            <a:solidFill>
              <a:srgbClr val="356F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3575304"/>
            <a:ext cx="3383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5212080" y="3502152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>
                <a:solidFill>
                  <a:srgbClr val="17364B"/>
                </a:solidFill>
              </a:rPr>
              <a:t>Start mock scan</a:t>
            </a:r>
            <a:endParaRPr lang="en-US" sz="1020"/>
          </a:p>
        </p:txBody>
      </p:sp>
      <p:sp>
        <p:nvSpPr>
          <p:cNvPr id="39" name="Shape 37"/>
          <p:cNvSpPr/>
          <p:nvPr/>
        </p:nvSpPr>
        <p:spPr>
          <a:xfrm>
            <a:off x="6903720" y="3410712"/>
            <a:ext cx="2057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blurRad="12700" dist="50800" dir="2700000" algn="bl" rotWithShape="0">
              <a:srgbClr val="A4B8C5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013448" y="3502152"/>
            <a:ext cx="338328" cy="338328"/>
          </a:xfrm>
          <a:prstGeom prst="ellipse">
            <a:avLst/>
          </a:prstGeom>
          <a:solidFill>
            <a:srgbClr val="7357C8"/>
          </a:solidFill>
          <a:ln w="12700">
            <a:solidFill>
              <a:srgbClr val="7357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13448" y="3575304"/>
            <a:ext cx="3383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>
          <a:xfrm>
            <a:off x="7452360" y="3502152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>
                <a:solidFill>
                  <a:srgbClr val="17364B"/>
                </a:solidFill>
              </a:rPr>
              <a:t>Poll job progress</a:t>
            </a:r>
            <a:endParaRPr lang="en-US" sz="1020"/>
          </a:p>
        </p:txBody>
      </p:sp>
      <p:sp>
        <p:nvSpPr>
          <p:cNvPr id="43" name="Shape 41"/>
          <p:cNvSpPr/>
          <p:nvPr/>
        </p:nvSpPr>
        <p:spPr>
          <a:xfrm>
            <a:off x="9144000" y="3410712"/>
            <a:ext cx="2057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blurRad="12700" dist="50800" dir="2700000" algn="bl" rotWithShape="0">
              <a:srgbClr val="A4B8C5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253728" y="3502152"/>
            <a:ext cx="338328" cy="338328"/>
          </a:xfrm>
          <a:prstGeom prst="ellipse">
            <a:avLst/>
          </a:prstGeom>
          <a:solidFill>
            <a:srgbClr val="F39A3C"/>
          </a:solidFill>
          <a:ln w="12700">
            <a:solidFill>
              <a:srgbClr val="F39A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53728" y="3575304"/>
            <a:ext cx="3383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3</a:t>
            </a:r>
            <a:endParaRPr lang="en-US" sz="900"/>
          </a:p>
        </p:txBody>
      </p:sp>
      <p:sp>
        <p:nvSpPr>
          <p:cNvPr id="46" name="Text 44"/>
          <p:cNvSpPr/>
          <p:nvPr/>
        </p:nvSpPr>
        <p:spPr>
          <a:xfrm>
            <a:off x="9692640" y="3502152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>
                <a:solidFill>
                  <a:srgbClr val="17364B"/>
                </a:solidFill>
              </a:rPr>
              <a:t>Review three findings</a:t>
            </a:r>
            <a:endParaRPr lang="en-US" sz="1020"/>
          </a:p>
        </p:txBody>
      </p:sp>
      <p:sp>
        <p:nvSpPr>
          <p:cNvPr id="47" name="Shape 45"/>
          <p:cNvSpPr/>
          <p:nvPr/>
        </p:nvSpPr>
        <p:spPr>
          <a:xfrm>
            <a:off x="4663440" y="4123944"/>
            <a:ext cx="2057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blurRad="12700" dist="50800" dir="2700000" algn="bl" rotWithShape="0">
              <a:srgbClr val="A4B8C5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73168" y="4215384"/>
            <a:ext cx="338328" cy="338328"/>
          </a:xfrm>
          <a:prstGeom prst="ellipse">
            <a:avLst/>
          </a:prstGeom>
          <a:solidFill>
            <a:srgbClr val="DE5A67"/>
          </a:solidFill>
          <a:ln w="12700">
            <a:solidFill>
              <a:srgbClr val="DE5A6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3168" y="4288536"/>
            <a:ext cx="3383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4</a:t>
            </a:r>
            <a:endParaRPr lang="en-US" sz="900"/>
          </a:p>
        </p:txBody>
      </p:sp>
      <p:sp>
        <p:nvSpPr>
          <p:cNvPr id="50" name="Text 48"/>
          <p:cNvSpPr/>
          <p:nvPr/>
        </p:nvSpPr>
        <p:spPr>
          <a:xfrm>
            <a:off x="5212080" y="4215384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>
                <a:solidFill>
                  <a:srgbClr val="17364B"/>
                </a:solidFill>
              </a:rPr>
              <a:t>Generate remediation</a:t>
            </a:r>
            <a:endParaRPr lang="en-US" sz="1020"/>
          </a:p>
        </p:txBody>
      </p:sp>
      <p:sp>
        <p:nvSpPr>
          <p:cNvPr id="51" name="Shape 49"/>
          <p:cNvSpPr/>
          <p:nvPr/>
        </p:nvSpPr>
        <p:spPr>
          <a:xfrm>
            <a:off x="6903720" y="4123944"/>
            <a:ext cx="2057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blurRad="12700" dist="50800" dir="2700000" algn="bl" rotWithShape="0">
              <a:srgbClr val="A4B8C5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013448" y="4215384"/>
            <a:ext cx="338328" cy="338328"/>
          </a:xfrm>
          <a:prstGeom prst="ellipse">
            <a:avLst/>
          </a:prstGeom>
          <a:solidFill>
            <a:srgbClr val="11A69A"/>
          </a:solidFill>
          <a:ln w="12700">
            <a:solidFill>
              <a:srgbClr val="11A6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13448" y="4288536"/>
            <a:ext cx="3383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5</a:t>
            </a:r>
            <a:endParaRPr lang="en-US" sz="900"/>
          </a:p>
        </p:txBody>
      </p:sp>
      <p:sp>
        <p:nvSpPr>
          <p:cNvPr id="54" name="Text 52"/>
          <p:cNvSpPr/>
          <p:nvPr/>
        </p:nvSpPr>
        <p:spPr>
          <a:xfrm>
            <a:off x="7452360" y="4215384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>
                <a:solidFill>
                  <a:srgbClr val="17364B"/>
                </a:solidFill>
              </a:rPr>
              <a:t>Approve and persist</a:t>
            </a:r>
            <a:endParaRPr lang="en-US" sz="1020"/>
          </a:p>
        </p:txBody>
      </p:sp>
      <p:sp>
        <p:nvSpPr>
          <p:cNvPr id="55" name="Shape 53"/>
          <p:cNvSpPr/>
          <p:nvPr/>
        </p:nvSpPr>
        <p:spPr>
          <a:xfrm>
            <a:off x="9144000" y="4123944"/>
            <a:ext cx="2057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DE8EF"/>
            </a:solidFill>
            <a:prstDash val="solid"/>
          </a:ln>
          <a:effectLst>
            <a:outerShdw blurRad="12700" dist="50800" dir="2700000" algn="bl" rotWithShape="0">
              <a:srgbClr val="A4B8C5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9253728" y="4215384"/>
            <a:ext cx="338328" cy="338328"/>
          </a:xfrm>
          <a:prstGeom prst="ellipse">
            <a:avLst/>
          </a:prstGeom>
          <a:solidFill>
            <a:srgbClr val="2CB67D"/>
          </a:solidFill>
          <a:ln w="12700">
            <a:solidFill>
              <a:srgbClr val="2CB67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53728" y="4288536"/>
            <a:ext cx="3383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6</a:t>
            </a:r>
            <a:endParaRPr lang="en-US" sz="900"/>
          </a:p>
        </p:txBody>
      </p:sp>
      <p:sp>
        <p:nvSpPr>
          <p:cNvPr id="58" name="Text 56"/>
          <p:cNvSpPr/>
          <p:nvPr/>
        </p:nvSpPr>
        <p:spPr>
          <a:xfrm>
            <a:off x="9692640" y="4215384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>
                <a:solidFill>
                  <a:srgbClr val="17364B"/>
                </a:solidFill>
              </a:rPr>
              <a:t>Report metrics and evidence</a:t>
            </a:r>
            <a:endParaRPr lang="en-US" sz="1020"/>
          </a:p>
        </p:txBody>
      </p:sp>
      <p:sp>
        <p:nvSpPr>
          <p:cNvPr id="59" name="Shape 57"/>
          <p:cNvSpPr/>
          <p:nvPr/>
        </p:nvSpPr>
        <p:spPr>
          <a:xfrm>
            <a:off x="4663440" y="4937760"/>
            <a:ext cx="6656832" cy="484632"/>
          </a:xfrm>
          <a:prstGeom prst="roundRect">
            <a:avLst>
              <a:gd name="adj" fmla="val 11321"/>
            </a:avLst>
          </a:prstGeom>
          <a:solidFill>
            <a:srgbClr val="092F45"/>
          </a:solidFill>
          <a:ln w="12700">
            <a:solidFill>
              <a:srgbClr val="092F4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82896" y="508406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>
                <a:solidFill>
                  <a:srgbClr val="FFFFFF"/>
                </a:solidFill>
              </a:rPr>
              <a:t>POST /api/v1/mvp/scans/mock drives the same background pipeline as a live scan.</a:t>
            </a:r>
            <a:endParaRPr lang="en-US" sz="1040"/>
          </a:p>
        </p:txBody>
      </p:sp>
      <p:sp>
        <p:nvSpPr>
          <p:cNvPr id="61" name="Text 59"/>
          <p:cNvSpPr/>
          <p:nvPr/>
        </p:nvSpPr>
        <p:spPr>
          <a:xfrm>
            <a:off x="4343400" y="59801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60">
                <a:solidFill>
                  <a:srgbClr val="5E7486"/>
                </a:solidFill>
              </a:rPr>
              <a:t>CONTINUOUS, EVIDENCE-DRIVEN ASSURANCE</a:t>
            </a:r>
            <a:endParaRPr lang="en-US" sz="90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11A69A"/>
                </a:solidFill>
              </a:rPr>
              <a:t>VALUE &amp; DELIVERY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092F45"/>
                </a:solidFill>
              </a:rPr>
              <a:t>Business Benefits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8412480" y="5760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>
                <a:solidFill>
                  <a:srgbClr val="5E7486"/>
                </a:solidFill>
              </a:rPr>
              <a:t>A reliable, evidence-first security demo.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83112" cy="1993392"/>
          </a:xfrm>
          <a:prstGeom prst="roundRect">
            <a:avLst>
              <a:gd name="adj" fmla="val 4587"/>
            </a:avLst>
          </a:prstGeom>
          <a:solidFill>
            <a:srgbClr val="092F45"/>
          </a:solidFill>
          <a:ln w="12700">
            <a:solidFill>
              <a:srgbClr val="092F45"/>
            </a:solidFill>
            <a:prstDash val="solid"/>
          </a:ln>
          <a:effectLst>
            <a:outerShdw blurRad="25400" dist="50800" dir="2700000" algn="bl" rotWithShape="0">
              <a:srgbClr val="8FA7B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554480"/>
            <a:ext cx="749808" cy="749808"/>
          </a:xfrm>
          <a:prstGeom prst="ellipse">
            <a:avLst/>
          </a:prstGeom>
          <a:solidFill>
            <a:srgbClr val="21C7B7"/>
          </a:solidFill>
          <a:ln w="12700">
            <a:solidFill>
              <a:srgbClr val="21C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37360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</a:rPr>
              <a:t>↗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1856232" y="1536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21C7B7"/>
                </a:solidFill>
              </a:rPr>
              <a:t>Business Impact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1856232" y="1901952"/>
            <a:ext cx="9235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>
                <a:solidFill>
                  <a:srgbClr val="FFFFFF"/>
                </a:solidFill>
              </a:rPr>
              <a:t>Show risk discovery, remediation governance, and release confidence in one walkthrough—without requiring external AI credentials.</a:t>
            </a:r>
            <a:endParaRPr lang="en-US" sz="1520"/>
          </a:p>
        </p:txBody>
      </p:sp>
      <p:sp>
        <p:nvSpPr>
          <p:cNvPr id="10" name="Shape 8"/>
          <p:cNvSpPr/>
          <p:nvPr/>
        </p:nvSpPr>
        <p:spPr>
          <a:xfrm>
            <a:off x="502920" y="3429000"/>
            <a:ext cx="5486400" cy="2029968"/>
          </a:xfrm>
          <a:prstGeom prst="roundRect">
            <a:avLst>
              <a:gd name="adj" fmla="val 3604"/>
            </a:avLst>
          </a:prstGeom>
          <a:solidFill>
            <a:srgbClr val="EAF7F5"/>
          </a:solidFill>
          <a:ln w="12700">
            <a:solidFill>
              <a:srgbClr val="DFE8EF"/>
            </a:solidFill>
            <a:prstDash val="solid"/>
          </a:ln>
          <a:effectLst>
            <a:outerShdw blurRad="25400" dist="50800" dir="2700000" algn="bl" rotWithShape="0">
              <a:srgbClr val="9FB3C1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3429000"/>
            <a:ext cx="82296" cy="2029968"/>
          </a:xfrm>
          <a:prstGeom prst="roundRect">
            <a:avLst>
              <a:gd name="adj" fmla="val 44444"/>
            </a:avLst>
          </a:prstGeom>
          <a:solidFill>
            <a:srgbClr val="2CB67D"/>
          </a:solidFill>
          <a:ln w="12700">
            <a:solidFill>
              <a:srgbClr val="2CB67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438912" cy="438912"/>
          </a:xfrm>
          <a:prstGeom prst="ellipse">
            <a:avLst/>
          </a:prstGeom>
          <a:solidFill>
            <a:srgbClr val="2CB67D"/>
          </a:solidFill>
          <a:ln w="12700">
            <a:solidFill>
              <a:srgbClr val="2CB6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✓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1435608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2CB67D"/>
                </a:solidFill>
              </a:rPr>
              <a:t>Built &amp; Demonstrated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822960" y="4343400"/>
            <a:ext cx="4809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>
                <a:solidFill>
                  <a:srgbClr val="17364B"/>
                </a:solidFill>
              </a:rPr>
              <a:t>Angular + FastAPI vertical slice; deterministic mock/live scans; progress polling; persistence; dashboard metrics; remediation; approvals; audit events; Copilot fallback.</a:t>
            </a:r>
            <a:endParaRPr lang="en-US" sz="1230"/>
          </a:p>
        </p:txBody>
      </p:sp>
      <p:sp>
        <p:nvSpPr>
          <p:cNvPr id="16" name="Shape 14"/>
          <p:cNvSpPr/>
          <p:nvPr/>
        </p:nvSpPr>
        <p:spPr>
          <a:xfrm>
            <a:off x="6199632" y="3429000"/>
            <a:ext cx="5486400" cy="2029968"/>
          </a:xfrm>
          <a:prstGeom prst="roundRect">
            <a:avLst>
              <a:gd name="adj" fmla="val 3604"/>
            </a:avLst>
          </a:prstGeom>
          <a:solidFill>
            <a:srgbClr val="FFF3E7"/>
          </a:solidFill>
          <a:ln w="12700">
            <a:solidFill>
              <a:srgbClr val="DFE8EF"/>
            </a:solidFill>
            <a:prstDash val="solid"/>
          </a:ln>
          <a:effectLst>
            <a:outerShdw blurRad="25400" dist="50800" dir="2700000" algn="bl" rotWithShape="0">
              <a:srgbClr val="9FB3C1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3429000"/>
            <a:ext cx="82296" cy="2029968"/>
          </a:xfrm>
          <a:prstGeom prst="roundRect">
            <a:avLst>
              <a:gd name="adj" fmla="val 44444"/>
            </a:avLst>
          </a:prstGeom>
          <a:solidFill>
            <a:srgbClr val="F39A3C"/>
          </a:solidFill>
          <a:ln w="12700">
            <a:solidFill>
              <a:srgbClr val="F39A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9672" y="3749040"/>
            <a:ext cx="438912" cy="438912"/>
          </a:xfrm>
          <a:prstGeom prst="ellipse">
            <a:avLst/>
          </a:prstGeom>
          <a:solidFill>
            <a:srgbClr val="F39A3C"/>
          </a:solidFill>
          <a:ln w="12700">
            <a:solidFill>
              <a:srgbClr val="F39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385876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→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7132320" y="3767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F39A3C"/>
                </a:solidFill>
              </a:rPr>
              <a:t>Demo Boundary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6519672" y="4343400"/>
            <a:ext cx="4809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>
                <a:solidFill>
                  <a:srgbClr val="17364B"/>
                </a:solidFill>
              </a:rPr>
              <a:t>External Jira, Git, Azure OpenAI, and production workers remain behind credentialed integration ports.</a:t>
            </a:r>
            <a:endParaRPr lang="en-US" sz="1230"/>
          </a:p>
        </p:txBody>
      </p:sp>
      <p:sp>
        <p:nvSpPr>
          <p:cNvPr id="22" name="Shape 20"/>
          <p:cNvSpPr/>
          <p:nvPr/>
        </p:nvSpPr>
        <p:spPr>
          <a:xfrm>
            <a:off x="1920240" y="5715000"/>
            <a:ext cx="83576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67128" y="590702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356FD4"/>
                </a:solidFill>
              </a:rPr>
              <a:t>EARLIER INSIGHT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3840480" y="584301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D8E4EC"/>
                </a:solidFill>
              </a:rPr>
              <a:t>•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4133088" y="5907024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7357C8"/>
                </a:solidFill>
              </a:rPr>
              <a:t>FASTER, REPEATABLE DEMOS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6437376" y="584301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D8E4EC"/>
                </a:solidFill>
              </a:rPr>
              <a:t>•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6702552" y="590702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11A69A"/>
                </a:solidFill>
              </a:rPr>
              <a:t>AUDITABLE REMEDIATION</a:t>
            </a:r>
            <a:endParaRPr lang="en-US" sz="90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Resiliency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Resiliency Studio Hackathon</dc:title>
  <dc:subject>Hackathon presentation</dc:subject>
  <dc:creator>Resiliency Studio</dc:creator>
  <cp:revision>3</cp:revision>
  <dcterms:created xsi:type="dcterms:W3CDTF">2026-09-18T10:44:29Z</dcterms:created>
  <dcterms:modified xsi:type="dcterms:W3CDTF">2026-09-19T05:50:25Z</dcterms:modified>
</cp:coreProperties>
</file>